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7772400" cx="10058400"/>
  <p:notesSz cx="10058400" cy="777240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cmpd="sng" w="12700">
              <a:solidFill>
                <a:schemeClr val="lt1"/>
              </a:solidFill>
            </a:ln>
          </a:left>
          <a:right>
            <a:ln cmpd="sng" w="12700">
              <a:solidFill>
                <a:schemeClr val="lt1"/>
              </a:solidFill>
            </a:ln>
          </a:right>
          <a:top>
            <a:ln cmpd="sng" w="12700">
              <a:solidFill>
                <a:schemeClr val="lt1"/>
              </a:solidFill>
            </a:ln>
          </a:top>
          <a:bottom>
            <a:ln cmpd="sng" w="12700">
              <a:solidFill>
                <a:schemeClr val="lt1"/>
              </a:solidFill>
            </a:ln>
          </a:bottom>
          <a:insideH>
            <a:ln cmpd="sng" w="12700">
              <a:solidFill>
                <a:schemeClr val="lt1"/>
              </a:solidFill>
            </a:ln>
          </a:insideH>
          <a:insideV>
            <a:ln cmpd="sng"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cmpd="sng"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cmpd="sng"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tableStyles" Target="tableStyles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0304" y="2159203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CYBERSECURITY INCIDENT ANALYTICS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lang="en-US" sz="2400" dirty="0"/>
              <a:t>Analyzing Cybersecurity Incidents Using Data Analytics</a:t>
            </a:r>
            <a:endParaRPr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44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D.Bhavani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26B21CS156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U.Varma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26B21CS135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B.Ashajyothi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(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26B21CS163</a:t>
            </a:r>
            <a:r>
              <a:rPr sz="20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P.G Malaya Sri</a:t>
            </a:r>
            <a:r>
              <a:rPr sz="20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sz="2000" b="1">
                <a:latin typeface="Times New Roman" panose="02020603050405020304" pitchFamily="18" charset="0"/>
                <a:cs typeface="Times New Roman" pitchFamily="18" charset="0"/>
              </a:rPr>
              <a:t>(23B91CS1</a:t>
            </a:r>
            <a:r>
              <a:rPr lang="en-US" sz="2000" b="1">
                <a:latin typeface="Times New Roman" panose="02020603050405020304" pitchFamily="18" charset="0"/>
                <a:cs typeface="Times New Roman" pitchFamily="18" charset="0"/>
              </a:rPr>
              <a:t>48</a:t>
            </a:r>
            <a:r>
              <a:rPr sz="2000" b="1">
                <a:latin typeface="Times New Roman" panose="02020603050405020304" pitchFamily="18" charset="0"/>
                <a:cs typeface="Times New Roman" pitchFamily="18" charset="0"/>
              </a:rPr>
              <a:t>)</a:t>
            </a:r>
            <a:endParaRPr sz="2000" b="1" dirty="0">
              <a:latin typeface="Times New Roman" panose="02020603050405020304" pitchFamily="18" charset="0"/>
              <a:cs typeface="Times New Roman" pitchFamily="18" charset="0"/>
            </a:endParaRP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Guide: Mr. K. Ashok Teja, Assistant Professor, CSE Dept.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44652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19200" y="1676400"/>
            <a:ext cx="71323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Understanding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Current/Manual Approach &amp; Limitations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Approach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— 8 stages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Visualizations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 &amp;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Workflow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PROBLEM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524000"/>
            <a:ext cx="8686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 datasets contain multiple attributes such as attack type, target industry, financial loss, affected users, and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incident records are difficult to interpret directly.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may contain invalid values, duplicates, or inconsistent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structured analytics workflow is required to transform raw data into meaningful information.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applies an eight-stage data analytics workflow to identify cybersecurity incident patterns.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1417320"/>
            <a:ext cx="877824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incidents can be analyzed using historical data to understand recurring patterns.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analyzes attack types, target industries, attack sources, financial losses, affected users, and incident resolution time.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 such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NumPy, and Matplotlib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data processing and visualization.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produces cleaned datasets, summary tables, visualizations, analysis results, and key findings. 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Current / Manual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1131751"/>
            <a:ext cx="877824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/ Manual Approach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data may be stored as raw CSV or table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inspection makes category-wise comparison difficult.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tables are difficult to interpret without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filtering and calculations are time-consuming.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datasets are difficult to review manually.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and duplicate records can affect results.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and trends are not immediately visible.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 requires statistical tools.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processing increases the possibility of human error.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Approach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251" y="2057400"/>
            <a:ext cx="85039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and inspect the cybersecurity incident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Acquire and filter valid records.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required attributes.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clean the dataset.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Aggregate data into meaningful summaries.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statistical and correlation analysis.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visualizations.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 results and document key findings.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77237-02DD-0D61-0FEF-7A49461281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55771"/>
            <a:ext cx="10058400" cy="566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779CDC-CFE9-36A5-8479-213A6C9EC745}"/>
              </a:ext>
            </a:extLst>
          </p:cNvPr>
          <p:cNvSpPr txBox="1"/>
          <p:nvPr/>
        </p:nvSpPr>
        <p:spPr>
          <a:xfrm>
            <a:off x="1981200" y="1290225"/>
            <a:ext cx="402336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/ Environment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or desktop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 for Google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Sufficient storage for datasets and project files </a:t>
            </a:r>
          </a:p>
          <a:p>
            <a:pPr algn="l">
              <a:spcAft>
                <a:spcPts val="700"/>
              </a:spcAft>
              <a:defRPr sz="1800" b="0">
                <a:solidFill>
                  <a:srgbClr val="2D2D2D"/>
                </a:solidFill>
                <a:latin typeface="Aptos"/>
              </a:defRPr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08D0-138D-9E2B-EAA8-3975B326716D}"/>
              </a:ext>
            </a:extLst>
          </p:cNvPr>
          <p:cNvSpPr txBox="1"/>
          <p:nvPr/>
        </p:nvSpPr>
        <p:spPr>
          <a:xfrm>
            <a:off x="1219200" y="1649265"/>
            <a:ext cx="7620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Loading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load the dataset into the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select only the required and valid records.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Extraction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extract the columns needed for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remove or correct missing, duplicate and invalid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Aggregation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summarize the data category-wise.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analyze patterns  ,trends and correlations in the data.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create charts and graphs to present the result clearly.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61AC90-4EAF-57C3-34A5-45D3A1F33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1" y="1600195"/>
            <a:ext cx="4343409" cy="52578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FCD05-518B-94D0-31E4-7C6578490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599" y="1600195"/>
            <a:ext cx="4800609" cy="426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00ABC-1A39-4213-B883-68B64ACD6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5482CEF3-3FE4-8E92-AB23-5EFE13E0152F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43EB5B01-F790-1925-69E4-DF399094813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5CA749BF-2124-1E7C-E75D-CBDD0B574C9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F3003C54-CFB2-68DF-3790-B3B733B4327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9F354A46-9829-7E39-3063-290D7603D103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E89DD0E2-AAE7-2A44-D25A-97F4C39A1ACE}"/>
              </a:ext>
            </a:extLst>
          </p:cNvPr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 Visualization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1D029C-D212-6AEC-4DE4-6295983C1E88}"/>
              </a:ext>
            </a:extLst>
          </p:cNvPr>
          <p:cNvSpPr txBox="1"/>
          <p:nvPr/>
        </p:nvSpPr>
        <p:spPr>
          <a:xfrm>
            <a:off x="570752" y="1162651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 dirty="0">
                <a:solidFill>
                  <a:srgbClr val="808080"/>
                </a:solidFill>
                <a:latin typeface="Times New Roman"/>
              </a:rPr>
              <a:t>Illustrative sample charts — regenerate these using your own project's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665ABF-87FB-45C5-359F-6E0D34EC1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94331"/>
            <a:ext cx="5029200" cy="4477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026011-5EFD-B6E8-C468-744310C945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881617"/>
            <a:ext cx="4876800" cy="3604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609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3429000" y="152400"/>
            <a:ext cx="32659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Key Insights &amp; Analysis</a:t>
            </a:r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89611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dirty="0">
                <a:solidFill>
                  <a:srgbClr val="2D2D2D"/>
                </a:solidFill>
                <a:latin typeface="Times New Roman"/>
              </a:rPr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0D25BEA-B77F-D8C6-9B06-064A724226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404219"/>
              </p:ext>
            </p:extLst>
          </p:nvPr>
        </p:nvGraphicFramePr>
        <p:xfrm>
          <a:off x="620713" y="1908423"/>
          <a:ext cx="8948736" cy="31207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74368">
                  <a:extLst>
                    <a:ext uri="{9D8B030D-6E8A-4147-A177-3AD203B41FA5}">
                      <a16:colId xmlns:a16="http://schemas.microsoft.com/office/drawing/2014/main" val="650131395"/>
                    </a:ext>
                  </a:extLst>
                </a:gridCol>
                <a:gridCol w="4474368">
                  <a:extLst>
                    <a:ext uri="{9D8B030D-6E8A-4147-A177-3AD203B41FA5}">
                      <a16:colId xmlns:a16="http://schemas.microsoft.com/office/drawing/2014/main" val="3429143840"/>
                    </a:ext>
                  </a:extLst>
                </a:gridCol>
              </a:tblGrid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523518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Common Attack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DDoS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8145186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Most Targeted Industry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6380997"/>
                  </a:ext>
                </a:extLst>
              </a:tr>
              <a:tr h="780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Year With Most Incidents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2017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48786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Implementation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2344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808080"/>
                </a:solidFill>
                <a:latin typeface="Times New Roman"/>
              </a:rPr>
              <a:t>From raw data to actionable insights — adapt these stages to your own project</a:t>
            </a:r>
          </a:p>
        </p:txBody>
      </p:sp>
      <p:sp>
        <p:nvSpPr>
          <p:cNvPr id="14" name="Chevron 13"/>
          <p:cNvSpPr/>
          <p:nvPr/>
        </p:nvSpPr>
        <p:spPr>
          <a:xfrm>
            <a:off x="36576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1. Data
Collection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3291839" y="196596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2. Data
Cleaning</a:t>
            </a:r>
          </a:p>
        </p:txBody>
      </p:sp>
      <p:sp>
        <p:nvSpPr>
          <p:cNvPr id="16" name="Chevron 15"/>
          <p:cNvSpPr/>
          <p:nvPr/>
        </p:nvSpPr>
        <p:spPr>
          <a:xfrm>
            <a:off x="6217920" y="196596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3. Pre-
processing</a:t>
            </a:r>
          </a:p>
        </p:txBody>
      </p:sp>
      <p:sp>
        <p:nvSpPr>
          <p:cNvPr id="17" name="Chevron 16"/>
          <p:cNvSpPr/>
          <p:nvPr/>
        </p:nvSpPr>
        <p:spPr>
          <a:xfrm>
            <a:off x="36576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4. EDA</a:t>
            </a:r>
          </a:p>
        </p:txBody>
      </p:sp>
      <p:sp>
        <p:nvSpPr>
          <p:cNvPr id="18" name="Chevron 17"/>
          <p:cNvSpPr/>
          <p:nvPr/>
        </p:nvSpPr>
        <p:spPr>
          <a:xfrm>
            <a:off x="3291839" y="3703320"/>
            <a:ext cx="3246120" cy="960120"/>
          </a:xfrm>
          <a:prstGeom prst="chevron">
            <a:avLst/>
          </a:prstGeom>
          <a:solidFill>
            <a:srgbClr val="233464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5. Visualization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6217920" y="3703320"/>
            <a:ext cx="3246120" cy="960120"/>
          </a:xfrm>
          <a:prstGeom prst="chevron">
            <a:avLst/>
          </a:prstGeom>
          <a:solidFill>
            <a:srgbClr val="FF660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6. Insights &amp;
Report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4572000" y="2999232"/>
            <a:ext cx="640080" cy="640080"/>
          </a:xfrm>
          <a:prstGeom prst="downArrow">
            <a:avLst/>
          </a:prstGeom>
          <a:solidFill>
            <a:srgbClr val="C25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0749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233464"/>
                </a:solidFill>
                <a:latin typeface="Times New Roman"/>
              </a:rPr>
              <a:t>Output: cleaned dataset → charts → a short set of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1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30" name="Google Shape;30;p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828925" y="243549"/>
              <a:ext cx="4585269" cy="52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33;p1"/>
            <p:cNvSpPr/>
            <p:nvPr/>
          </p:nvSpPr>
          <p:spPr>
            <a:xfrm>
              <a:off x="2883931" y="282892"/>
              <a:ext cx="4479290" cy="416559"/>
            </a:xfrm>
            <a:custGeom>
              <a:rect b="b" l="l" r="r" t="t"/>
              <a:pathLst>
                <a:path extrusionOk="0" h="416559" w="4479290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pic>
        <p:nvPicPr>
          <p:cNvPr id="34" name="Google Shape;34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750" y="204311"/>
            <a:ext cx="1163002" cy="424338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1"/>
          <p:cNvSpPr txBox="1"/>
          <p:nvPr/>
        </p:nvSpPr>
        <p:spPr>
          <a:xfrm>
            <a:off x="2488870" y="368446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381000" y="1463040"/>
            <a:ext cx="9372600" cy="44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project implements a complete cybersecurity data analytics workflow. 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dataset was loaded, filtered, extracted, validated, cleaned, aggregated, analyzed, visualized, and interpreted. 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The analysis identifies meaningful patterns in attack types, target industries, financial losses, affected users, and other incident characteristics. </a:t>
            </a:r>
            <a:endParaRPr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Visualizations make the cybersecurity incident patterns easier to understand.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400" y="0"/>
            <a:ext cx="8219599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5372" y="0"/>
            <a:ext cx="8207655" cy="77724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57302" y="2266230"/>
            <a:ext cx="7543800" cy="3132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rtl="0">
              <a:lnSpc>
                <a:spcPct val="90000"/>
              </a:lnSpc>
              <a:spcBef>
                <a:spcPct val="0"/>
              </a:spcBef>
              <a:spcAft>
                <a:spcPts val="700"/>
              </a:spcAft>
              <a:defRPr sz="3400" b="1">
                <a:solidFill>
                  <a:srgbClr val="233464"/>
                </a:solidFill>
                <a:latin typeface="Aptos"/>
              </a:defRPr>
            </a:pPr>
            <a:r>
              <a:rPr lang="en-US" sz="3600" kern="1200" dirty="0">
                <a:solidFill>
                  <a:schemeClr val="tx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THANK YOU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67812" y="6261424"/>
            <a:ext cx="3922776" cy="31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A36E30A8-BD1B-0058-4620-F390351DAD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778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