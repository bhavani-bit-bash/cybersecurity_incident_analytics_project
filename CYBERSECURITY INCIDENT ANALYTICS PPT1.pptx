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4" r:id="rId6"/>
    <p:sldId id="276" r:id="rId7"/>
    <p:sldId id="280" r:id="rId8"/>
    <p:sldId id="278" r:id="rId9"/>
    <p:sldId id="271" r:id="rId10"/>
    <p:sldId id="283" r:id="rId11"/>
    <p:sldId id="287" r:id="rId12"/>
    <p:sldId id="285" r:id="rId13"/>
    <p:sldId id="284" r:id="rId14"/>
    <p:sldId id="268" r:id="rId15"/>
    <p:sldId id="269" r:id="rId16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4" autoAdjust="0"/>
    <p:restoredTop sz="94660"/>
  </p:normalViewPr>
  <p:slideViewPr>
    <p:cSldViewPr>
      <p:cViewPr varScale="1">
        <p:scale>
          <a:sx n="66" d="100"/>
          <a:sy n="66" d="100"/>
        </p:scale>
        <p:origin x="1958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pPr/>
              <a:t>30-09-2026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106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1051560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233464"/>
                </a:solidFill>
                <a:latin typeface="Aptos"/>
              </a:defRPr>
            </a:pPr>
            <a:r>
              <a:rPr sz="2800" dirty="0">
                <a:latin typeface="Times New Roman" pitchFamily="18" charset="0"/>
                <a:cs typeface="Times New Roman" pitchFamily="18" charset="0"/>
              </a:rPr>
              <a:t>Data Analysis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508760"/>
            <a:ext cx="73152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300" b="1">
                <a:solidFill>
                  <a:srgbClr val="C25B30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Cornerstone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0304" y="2159203"/>
            <a:ext cx="8778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3000" b="1">
                <a:solidFill>
                  <a:srgbClr val="233464"/>
                </a:solidFill>
                <a:latin typeface="Aptos"/>
              </a:defRPr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CYBERSECURITY INCIDENT ANALYTICS</a:t>
            </a:r>
            <a:endParaRPr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8720" y="2907792"/>
            <a:ext cx="7680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800" b="0">
                <a:solidFill>
                  <a:srgbClr val="375BA0"/>
                </a:solidFill>
                <a:latin typeface="Aptos"/>
              </a:defRPr>
            </a:pPr>
            <a:r>
              <a:rPr lang="en-US" sz="2400" dirty="0"/>
              <a:t>Analyzing Cybersecurity Incidents Using Data Analytics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" y="3657600"/>
            <a:ext cx="7955279" cy="2449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Presented by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D.Bhavani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26B21CS156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U.Varma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26B21CS135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B.Ashajyothi</a:t>
            </a:r>
            <a:r>
              <a:rPr sz="2000" b="1" dirty="0">
                <a:latin typeface="Times New Roman" panose="02020603050405020304" pitchFamily="18" charset="0"/>
                <a:cs typeface="Times New Roman" pitchFamily="18" charset="0"/>
              </a:rPr>
              <a:t>(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26B21CS163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P.G Malaya Sri</a:t>
            </a:r>
            <a:r>
              <a:rPr sz="2000" b="1" dirty="0">
                <a:latin typeface="Times New Roman" panose="02020603050405020304" pitchFamily="18" charset="0"/>
                <a:cs typeface="Times New Roman" pitchFamily="18" charset="0"/>
              </a:rPr>
              <a:t> </a:t>
            </a:r>
            <a:r>
              <a:rPr sz="2000" b="1">
                <a:latin typeface="Times New Roman" panose="02020603050405020304" pitchFamily="18" charset="0"/>
                <a:cs typeface="Times New Roman" pitchFamily="18" charset="0"/>
              </a:rPr>
              <a:t>(23B91CS1</a:t>
            </a:r>
            <a:r>
              <a:rPr lang="en-US" sz="2000" b="1">
                <a:latin typeface="Times New Roman" panose="02020603050405020304" pitchFamily="18" charset="0"/>
                <a:cs typeface="Times New Roman" pitchFamily="18" charset="0"/>
              </a:rPr>
              <a:t>48</a:t>
            </a:r>
            <a:r>
              <a:rPr sz="2000" b="1">
                <a:latin typeface="Times New Roman" panose="02020603050405020304" pitchFamily="18" charset="0"/>
                <a:cs typeface="Times New Roman" pitchFamily="18" charset="0"/>
              </a:rPr>
              <a:t>)</a:t>
            </a:r>
            <a:endParaRPr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sz="1600" b="1" dirty="0">
                <a:latin typeface="Times New Roman" pitchFamily="18" charset="0"/>
                <a:cs typeface="Times New Roman" pitchFamily="18" charset="0"/>
              </a:rPr>
              <a:t>Guide: Mr. K. Ashok Teja, Assistant Professor, CSE Dept.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446520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233464"/>
                </a:solidFill>
                <a:latin typeface="Aptos"/>
              </a:defRPr>
            </a:pPr>
            <a:r>
              <a:rPr sz="2000" dirty="0"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545080" y="269414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19200" y="1676400"/>
            <a:ext cx="713232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base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Understanding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Current/Manual Approach &amp; Limitations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Approach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— 8 stages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Visualizations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Analysis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Workflow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67000" y="53695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0" name="object 3">
            <a:extLst>
              <a:ext uri="{FF2B5EF4-FFF2-40B4-BE49-F238E27FC236}">
                <a16:creationId xmlns:a16="http://schemas.microsoft.com/office/drawing/2014/main" id="{1B5A0518-1CDA-CA94-327E-0995E9EC2B8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67000" y="304800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PROBLEM UNDERSTANDING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524000"/>
            <a:ext cx="86868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incident datasets contain multiple attributes such as attack type, target industry, financial loss, affected users, and resolution time.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incident records are difficult to interpret directly.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may contain invalid values, duplicates, or inconsistent records.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structured analytics workflow is required to transform raw data into meaningful information.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applies an eight-stage data analytics workflow to identify cybersecurity incident patterns.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0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68880" y="21633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417320"/>
            <a:ext cx="877824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incidents can be analyzed using historical data to understand recurring patterns.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analyzes attack types, target industries, attack sources, financial losses, affected users, and incident resolution time.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libraries such as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Pandas, NumPy, and Matplotlib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for data processing and visualization.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produces cleaned datasets, summary tables, visualizations, analysis results, and key findings. 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67000" y="304800"/>
            <a:ext cx="5181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Current / Manual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131751"/>
            <a:ext cx="877824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/ Manual Approach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Incident data may be stored as raw CSV or table records.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inspection makes category-wise comparison difficult.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tables are difficult to interpret without visualizations.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filtering and calculations are time-consuming.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datasets are difficult to review manually.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 and duplicate records can affect results.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 and trends are not immediately visible.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 requires statistical tools.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processing increases the possibility of human error.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383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3" name="object 3">
            <a:extLst>
              <a:ext uri="{FF2B5EF4-FFF2-40B4-BE49-F238E27FC236}">
                <a16:creationId xmlns:a16="http://schemas.microsoft.com/office/drawing/2014/main" id="{39A132B5-7282-BB0D-41D0-2D605FAF9D2A}"/>
              </a:ext>
            </a:extLst>
          </p:cNvPr>
          <p:cNvGrpSpPr/>
          <p:nvPr/>
        </p:nvGrpSpPr>
        <p:grpSpPr>
          <a:xfrm>
            <a:off x="2743200" y="228600"/>
            <a:ext cx="4997767" cy="1092279"/>
            <a:chOff x="2703195" y="86439"/>
            <a:chExt cx="4997767" cy="1092279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19E5F2C6-879E-09C8-70D8-F12E4105BA4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12F6F0F7-7EC3-7119-588E-9CA45688A5E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FF94120-5DAA-BA86-6F61-CE59BF796C6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743200" y="374808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Proposed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2251" y="2057400"/>
            <a:ext cx="85039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and inspect the cybersecurity incident dataset.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Acquire and filter valid records.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required attributes.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and clean the dataset.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 data into meaningful summaries.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statistical and correlation analysis.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visualizations.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 results and document key findings.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256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4944C-8816-A98A-BE5A-6A28E3D13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97977331-EA1C-CA44-869F-6C400FF95B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493C539F-A86A-512C-CDC1-7D279B60EB1C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EF4257B-2B43-17B3-FF4F-1187B669162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C6F1369C-4970-FF55-E67B-BCF08160A62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CF69E22F-BC21-03E7-F9F3-42AA69CA9E9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470ED999-51AF-0BD8-F3EE-37C965CA5C3F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722007" y="286489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DATASET DESCRIPTION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1F77237-02DD-0D61-0FEF-7A49461281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055771"/>
            <a:ext cx="10058400" cy="566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378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819400" y="52623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43200" y="256032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REQUIREMENTS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779CDC-CFE9-36A5-8479-213A6C9EC745}"/>
              </a:ext>
            </a:extLst>
          </p:cNvPr>
          <p:cNvSpPr txBox="1"/>
          <p:nvPr/>
        </p:nvSpPr>
        <p:spPr>
          <a:xfrm>
            <a:off x="1981200" y="1290225"/>
            <a:ext cx="402336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/ Environment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or desktop computer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connection for Google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Sufficient storage for datasets and project files 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052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21ABBE52-8710-4E6B-00A1-6AE2E264A905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B01548A-FFE9-E3D8-12A9-78CF2115655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2274CD8-F01F-9319-4AED-E01AFBB7B3F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798807C2-A29E-0BF3-6CFE-592456DB3D5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012A6F5-DCDD-5346-54A8-BF352762053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pic>
        <p:nvPicPr>
          <p:cNvPr id="11" name="object 3">
            <a:extLst>
              <a:ext uri="{FF2B5EF4-FFF2-40B4-BE49-F238E27FC236}">
                <a16:creationId xmlns:a16="http://schemas.microsoft.com/office/drawing/2014/main" id="{A01798C2-99DE-A723-BAF6-CF11F4E8C1F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414826" y="437450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5108D0-138D-9E2B-EAA8-3975B326716D}"/>
              </a:ext>
            </a:extLst>
          </p:cNvPr>
          <p:cNvSpPr txBox="1"/>
          <p:nvPr/>
        </p:nvSpPr>
        <p:spPr>
          <a:xfrm>
            <a:off x="1219200" y="1649265"/>
            <a:ext cx="7620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Loading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Dataset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load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chesam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Filtering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Required and valid records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chesam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Extraction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Analysis ki required columns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chesam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Missing, duplicate invalid data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chesam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Aggregation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categories-wise summarize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chesam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Patterns, trends and correlations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chesam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Charts and graphs create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chesam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495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3">
            <a:extLst>
              <a:ext uri="{FF2B5EF4-FFF2-40B4-BE49-F238E27FC236}">
                <a16:creationId xmlns:a16="http://schemas.microsoft.com/office/drawing/2014/main" id="{D26E0863-A3EE-1EC4-F128-4D4F1A60D3A0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21" name="object 4">
              <a:extLst>
                <a:ext uri="{FF2B5EF4-FFF2-40B4-BE49-F238E27FC236}">
                  <a16:creationId xmlns:a16="http://schemas.microsoft.com/office/drawing/2014/main" id="{77890B8C-7EC3-B7B1-BF56-4F5DE13755D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22" name="object 5">
              <a:extLst>
                <a:ext uri="{FF2B5EF4-FFF2-40B4-BE49-F238E27FC236}">
                  <a16:creationId xmlns:a16="http://schemas.microsoft.com/office/drawing/2014/main" id="{E9CC3DEB-E45E-85F9-CD38-C2C4966FBC3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23" name="object 6">
              <a:extLst>
                <a:ext uri="{FF2B5EF4-FFF2-40B4-BE49-F238E27FC236}">
                  <a16:creationId xmlns:a16="http://schemas.microsoft.com/office/drawing/2014/main" id="{4C3D8E05-12DF-F9A5-1AF2-87C24DA53BB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24" name="object 7">
              <a:extLst>
                <a:ext uri="{FF2B5EF4-FFF2-40B4-BE49-F238E27FC236}">
                  <a16:creationId xmlns:a16="http://schemas.microsoft.com/office/drawing/2014/main" id="{EF5B48B8-D150-0E57-59D0-4E3B78C2948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468880" y="396841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IN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Data Visualization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70752" y="1162651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 dirty="0">
                <a:solidFill>
                  <a:srgbClr val="808080"/>
                </a:solidFill>
                <a:latin typeface="Times New Roman"/>
              </a:rPr>
              <a:t>Illustrative sample charts — regenerate these using your own project's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61AC90-4EAF-57C3-34A5-45D3A1F33C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1" y="1600195"/>
            <a:ext cx="4343409" cy="52578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0FCD05-518B-94D0-31E4-7C65784904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599" y="1600195"/>
            <a:ext cx="4800609" cy="426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606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00ABC-1A39-4213-B883-68B64ACD6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3">
            <a:extLst>
              <a:ext uri="{FF2B5EF4-FFF2-40B4-BE49-F238E27FC236}">
                <a16:creationId xmlns:a16="http://schemas.microsoft.com/office/drawing/2014/main" id="{5482CEF3-3FE4-8E92-AB23-5EFE13E0152F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21" name="object 4">
              <a:extLst>
                <a:ext uri="{FF2B5EF4-FFF2-40B4-BE49-F238E27FC236}">
                  <a16:creationId xmlns:a16="http://schemas.microsoft.com/office/drawing/2014/main" id="{43EB5B01-F790-1925-69E4-DF399094813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22" name="object 5">
              <a:extLst>
                <a:ext uri="{FF2B5EF4-FFF2-40B4-BE49-F238E27FC236}">
                  <a16:creationId xmlns:a16="http://schemas.microsoft.com/office/drawing/2014/main" id="{5CA749BF-2124-1E7C-E75D-CBDD0B574C9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23" name="object 6">
              <a:extLst>
                <a:ext uri="{FF2B5EF4-FFF2-40B4-BE49-F238E27FC236}">
                  <a16:creationId xmlns:a16="http://schemas.microsoft.com/office/drawing/2014/main" id="{F3003C54-CFB2-68DF-3790-B3B733B4327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24" name="object 7">
              <a:extLst>
                <a:ext uri="{FF2B5EF4-FFF2-40B4-BE49-F238E27FC236}">
                  <a16:creationId xmlns:a16="http://schemas.microsoft.com/office/drawing/2014/main" id="{9F354A46-9829-7E39-3063-290D7603D103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E89DD0E2-AAE7-2A44-D25A-97F4C39A1ACE}"/>
              </a:ext>
            </a:extLst>
          </p:cNvPr>
          <p:cNvSpPr txBox="1"/>
          <p:nvPr/>
        </p:nvSpPr>
        <p:spPr>
          <a:xfrm>
            <a:off x="2468880" y="396841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IN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Data Visualization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1D029C-D212-6AEC-4DE4-6295983C1E88}"/>
              </a:ext>
            </a:extLst>
          </p:cNvPr>
          <p:cNvSpPr txBox="1"/>
          <p:nvPr/>
        </p:nvSpPr>
        <p:spPr>
          <a:xfrm>
            <a:off x="570752" y="1162651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 dirty="0">
                <a:solidFill>
                  <a:srgbClr val="808080"/>
                </a:solidFill>
                <a:latin typeface="Times New Roman"/>
              </a:rPr>
              <a:t>Illustrative sample charts — regenerate these using your own project's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665ABF-87FB-45C5-359F-6E0D34EC1E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694331"/>
            <a:ext cx="5029200" cy="44778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026011-5EFD-B6E8-C468-744310C945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1881617"/>
            <a:ext cx="4876800" cy="360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609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D26E0863-A3EE-1EC4-F128-4D4F1A60D3A0}"/>
              </a:ext>
            </a:extLst>
          </p:cNvPr>
          <p:cNvGrpSpPr/>
          <p:nvPr/>
        </p:nvGrpSpPr>
        <p:grpSpPr>
          <a:xfrm>
            <a:off x="2590800" y="0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77890B8C-7EC3-B7B1-BF56-4F5DE13755D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E9CC3DEB-E45E-85F9-CD38-C2C4966FBC3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4C3D8E05-12DF-F9A5-1AF2-87C24DA53BB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EF5B48B8-D150-0E57-59D0-4E3B78C2948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429000" y="152400"/>
            <a:ext cx="32659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Key Insights &amp; Analysis</a:t>
            </a:r>
          </a:p>
          <a:p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89611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dirty="0">
                <a:solidFill>
                  <a:srgbClr val="2D2D2D"/>
                </a:solidFill>
                <a:latin typeface="Times New Roman"/>
              </a:rPr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D25BEA-B77F-D8C6-9B06-064A724226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404219"/>
              </p:ext>
            </p:extLst>
          </p:nvPr>
        </p:nvGraphicFramePr>
        <p:xfrm>
          <a:off x="620713" y="1908423"/>
          <a:ext cx="8948736" cy="3120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74368">
                  <a:extLst>
                    <a:ext uri="{9D8B030D-6E8A-4147-A177-3AD203B41FA5}">
                      <a16:colId xmlns:a16="http://schemas.microsoft.com/office/drawing/2014/main" val="650131395"/>
                    </a:ext>
                  </a:extLst>
                </a:gridCol>
                <a:gridCol w="4474368">
                  <a:extLst>
                    <a:ext uri="{9D8B030D-6E8A-4147-A177-3AD203B41FA5}">
                      <a16:colId xmlns:a16="http://schemas.microsoft.com/office/drawing/2014/main" val="3429143840"/>
                    </a:ext>
                  </a:extLst>
                </a:gridCol>
              </a:tblGrid>
              <a:tr h="780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Finding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1523518"/>
                  </a:ext>
                </a:extLst>
              </a:tr>
              <a:tr h="780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Most Common Attack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8145186"/>
                  </a:ext>
                </a:extLst>
              </a:tr>
              <a:tr h="780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Most Targeted Industry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6380997"/>
                  </a:ext>
                </a:extLst>
              </a:tr>
              <a:tr h="780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Year With Most Incidents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2017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48786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67ACC245-70D9-3E8C-5FB8-754CFCF29BA7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6520D471-D4E5-A862-75B1-D9BCC13CCE7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AD22DAB3-C37B-1766-28C4-6EB13F7079C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CDC96198-DF83-D7E8-5187-D35038090D7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BAA191BE-B616-456E-A32A-06C5D11989B1}"/>
                </a:ext>
              </a:extLst>
            </p:cNvPr>
            <p:cNvSpPr/>
            <p:nvPr/>
          </p:nvSpPr>
          <p:spPr>
            <a:xfrm>
              <a:off x="2828925" y="282892"/>
              <a:ext cx="4534295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/>
                <a:t>                     </a:t>
              </a:r>
              <a:endParaRPr sz="2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2477248" y="39384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Implementation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234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808080"/>
                </a:solidFill>
                <a:latin typeface="Times New Roman"/>
              </a:rPr>
              <a:t>From raw data to actionable insights — adapt these stages to your own project</a:t>
            </a:r>
          </a:p>
        </p:txBody>
      </p:sp>
      <p:sp>
        <p:nvSpPr>
          <p:cNvPr id="14" name="Chevron 13"/>
          <p:cNvSpPr/>
          <p:nvPr/>
        </p:nvSpPr>
        <p:spPr>
          <a:xfrm>
            <a:off x="365760" y="1965960"/>
            <a:ext cx="3246120" cy="960120"/>
          </a:xfrm>
          <a:prstGeom prst="chevron">
            <a:avLst/>
          </a:prstGeom>
          <a:solidFill>
            <a:srgbClr val="23346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1. Data
Collection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3291839" y="1965960"/>
            <a:ext cx="3246120" cy="960120"/>
          </a:xfrm>
          <a:prstGeom prst="chevron">
            <a:avLst/>
          </a:prstGeom>
          <a:solidFill>
            <a:srgbClr val="FF6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2. Data
Cleaning</a:t>
            </a:r>
          </a:p>
        </p:txBody>
      </p:sp>
      <p:sp>
        <p:nvSpPr>
          <p:cNvPr id="16" name="Chevron 15"/>
          <p:cNvSpPr/>
          <p:nvPr/>
        </p:nvSpPr>
        <p:spPr>
          <a:xfrm>
            <a:off x="6217920" y="1965960"/>
            <a:ext cx="3246120" cy="960120"/>
          </a:xfrm>
          <a:prstGeom prst="chevron">
            <a:avLst/>
          </a:prstGeom>
          <a:solidFill>
            <a:srgbClr val="23346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3. Pre-
processing</a:t>
            </a:r>
          </a:p>
        </p:txBody>
      </p:sp>
      <p:sp>
        <p:nvSpPr>
          <p:cNvPr id="17" name="Chevron 16"/>
          <p:cNvSpPr/>
          <p:nvPr/>
        </p:nvSpPr>
        <p:spPr>
          <a:xfrm>
            <a:off x="365760" y="3703320"/>
            <a:ext cx="3246120" cy="960120"/>
          </a:xfrm>
          <a:prstGeom prst="chevron">
            <a:avLst/>
          </a:prstGeom>
          <a:solidFill>
            <a:srgbClr val="FF6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4. EDA</a:t>
            </a:r>
          </a:p>
        </p:txBody>
      </p:sp>
      <p:sp>
        <p:nvSpPr>
          <p:cNvPr id="18" name="Chevron 17"/>
          <p:cNvSpPr/>
          <p:nvPr/>
        </p:nvSpPr>
        <p:spPr>
          <a:xfrm>
            <a:off x="3291839" y="3703320"/>
            <a:ext cx="3246120" cy="960120"/>
          </a:xfrm>
          <a:prstGeom prst="chevron">
            <a:avLst/>
          </a:prstGeom>
          <a:solidFill>
            <a:srgbClr val="23346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5. Visualization</a:t>
            </a:r>
          </a:p>
        </p:txBody>
      </p:sp>
      <p:sp>
        <p:nvSpPr>
          <p:cNvPr id="19" name="Chevron 18"/>
          <p:cNvSpPr/>
          <p:nvPr/>
        </p:nvSpPr>
        <p:spPr>
          <a:xfrm>
            <a:off x="6217920" y="3703320"/>
            <a:ext cx="3246120" cy="960120"/>
          </a:xfrm>
          <a:prstGeom prst="chevron">
            <a:avLst/>
          </a:prstGeom>
          <a:solidFill>
            <a:srgbClr val="FF6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6. Insights &amp;
Report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4572000" y="2999232"/>
            <a:ext cx="640080" cy="640080"/>
          </a:xfrm>
          <a:prstGeom prst="downArrow">
            <a:avLst/>
          </a:prstGeom>
          <a:solidFill>
            <a:srgbClr val="C25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5074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233464"/>
                </a:solidFill>
                <a:latin typeface="Times New Roman"/>
              </a:rPr>
              <a:t>Output: cleaned dataset → charts → a short set of actionable insights</a:t>
            </a:r>
          </a:p>
        </p:txBody>
      </p:sp>
    </p:spTree>
    <p:extLst>
      <p:ext uri="{BB962C8B-B14F-4D97-AF65-F5344CB8AC3E}">
        <p14:creationId xmlns:p14="http://schemas.microsoft.com/office/powerpoint/2010/main" val="49352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88870" y="36844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1463040"/>
            <a:ext cx="93726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implements a complete cybersecurity data analytics workflow.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loaded, filtered, extracted, validated, cleaned, aggregated, analyzed, visualized, and interpreted.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identifies meaningful patterns in attack types, target industries, financial losses, affected users, and other incident characteristics.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 make the cybersecurity incident patterns easier to understand. 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2251" y="6126486"/>
            <a:ext cx="81381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C25B30"/>
                </a:solidFill>
                <a:latin typeface="Aptos"/>
              </a:defRPr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Future scope: apply these same steps to larger datasets, live data sources, and predictive modelling.</a:t>
            </a:r>
          </a:p>
        </p:txBody>
      </p:sp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400" cy="7772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9400" y="0"/>
            <a:ext cx="8219599" cy="77724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5372" y="0"/>
            <a:ext cx="8207655" cy="77724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57302" y="2266230"/>
            <a:ext cx="7543800" cy="3132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700"/>
              </a:spcAft>
              <a:defRPr sz="3400" b="1">
                <a:solidFill>
                  <a:srgbClr val="233464"/>
                </a:solidFill>
                <a:latin typeface="Aptos"/>
              </a:defRPr>
            </a:pPr>
            <a:r>
              <a:rPr lang="en-US" sz="3600" kern="120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THANK YOU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67812" y="6261424"/>
            <a:ext cx="3922776" cy="310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A36E30A8-BD1B-0058-4620-F390351DADB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3248</TotalTime>
  <Words>677</Words>
  <Application>Microsoft Office PowerPoint</Application>
  <PresentationFormat>Custom</PresentationFormat>
  <Paragraphs>117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Palatino Linotype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Bhavani D</cp:lastModifiedBy>
  <cp:revision>112</cp:revision>
  <cp:lastPrinted>2025-10-14T18:21:49Z</cp:lastPrinted>
  <dcterms:created xsi:type="dcterms:W3CDTF">2025-10-10T08:28:06Z</dcterms:created>
  <dcterms:modified xsi:type="dcterms:W3CDTF">2026-09-29T18:41:55Z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